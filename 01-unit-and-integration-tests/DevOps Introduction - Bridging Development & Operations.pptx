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51F823-6601-40DD-BB73-AC07E51E437B}">
  <a:tblStyle styleId="{DE51F823-6601-40DD-BB73-AC07E51E437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9" Type="http://schemas.openxmlformats.org/officeDocument/2006/relationships/image" Target="../media/image3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345084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Modern DevOps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28937" y="3289845"/>
            <a:ext cx="63341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Bridging the Gap Between Development and IT Operations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22266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INTRODUCTION &amp; BEST PRACTICES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Defining DevOps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205037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Unified Culture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8527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DevOps is a set of practices that combines software development (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 and IT operations (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6528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aims to shorten the systems development life cycle and provide continuous delivery with high software quality.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7577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Merge the "speed" of developers with the "stability" of operations teams.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8144"/>
            <a:ext cx="2547937" cy="4586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588144"/>
            <a:ext cx="2547937" cy="4586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588144"/>
            <a:ext cx="2547937" cy="4586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1588144"/>
            <a:ext cx="2547937" cy="458658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DevOps Pipeline: Four Pillars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952500" y="2733675"/>
            <a:ext cx="18752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CI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3126730"/>
            <a:ext cx="1785937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Integration: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Merging code changes into a shared repo frequently to trigger automated builds.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786187" y="2733675"/>
            <a:ext cx="18752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CD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786187" y="3126730"/>
            <a:ext cx="1785937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Delivery: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Ensuring the code is always in a deployable state to a production-like environment.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619875" y="2733675"/>
            <a:ext cx="18752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CDp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619875" y="3126730"/>
            <a:ext cx="1785937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Deployment: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Automatically pushing every change that passes the pipeline into production.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453562" y="2733675"/>
            <a:ext cx="18752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CM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453562" y="3126730"/>
            <a:ext cx="178593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Monitoring: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Real-time tracking of application performance and user behavior.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01676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86187" y="201676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9875" y="20167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53562" y="2016769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5619750" y="2436465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0" y="2874615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DevOps SDLC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0" y="4208115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Continuous, Circular Journey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762000" y="1533525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Plan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1533525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243840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Continuous Planning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32289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DevOps planning happens in small, iterative chunks (Sprints) rather than massive upfront documents.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42195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DevOps Twist: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Heavy emphasis on "Shift Left"—discussing security and operations requirements during the initial phase.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Code (Develop)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2605087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Small Increments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32527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Developers write code in manageable pieces and merge frequently into a shared repository.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40528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DevOps Twist: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Version Control Systems (like Git) are non-negotiable. Merging occurs multiple times a day to prevent "integration hell."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762000" y="1381125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Build &amp; Test (CI)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71500" y="1381125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228600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Heartbeat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30765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 soon as code is committed, an automated "Build" is triggered to compile code and resolve dependencies.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43719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DevOps Twist: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This is the CI heart. If a build fails, the team is notified immediately, keeping the main branch stable.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 Release (CD)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2605087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Boring is Good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32527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Once tests pass, the code is packaged as an artifact (e.g., Docker container) and stored in a registry.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40528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DevOps Twist: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Releases should be predictable and "boring" because they've been automatically validated multiple times.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762000" y="1533525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5. Deploy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571500" y="1533525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71500" y="243840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Pushing to Production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32289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Software is moved from staging to the live environment where actual users can access it.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500" y="42195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DevOps Twist: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Utilizing Infrastructure as Code (IaC) to ensure environments are identical every time, eliminating configuration drift.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6. Operate</a:t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2605087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Maintenance &amp; Scale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32527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Maintaining software health, managing server resources, and ensuring high availability for global users.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40528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DevOps Twist: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Ops teams use automation for configurations and patching rather than manual server updates.</a:t>
            </a:r>
            <a:endParaRPr/>
          </a:p>
        </p:txBody>
      </p:sp>
      <p:pic>
        <p:nvPicPr>
          <p:cNvPr descr="image.png" id="200" name="Google Shape;20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762000" y="1223962"/>
            <a:ext cx="50006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7. Monitor &amp; Feedback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571500" y="1223962"/>
            <a:ext cx="76200" cy="12382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571500" y="2747962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Closing the Loop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35385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is collected on application performance, errors, latency, and user behavior in real-time.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71500" y="45291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DevOps Twist: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This data provides a direct Feedback Loop to the Plan phase for the next iteration of the software.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Traditional vs. DevOps SDLC</a:t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24"/>
          <p:cNvGraphicFramePr/>
          <p:nvPr/>
        </p:nvGraphicFramePr>
        <p:xfrm>
          <a:off x="571500" y="1895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{DE51F823-6601-40DD-BB73-AC07E51E437B}</a:tableStyleId>
              </a:tblPr>
              <a:tblGrid>
                <a:gridCol w="2735025"/>
                <a:gridCol w="3735150"/>
                <a:gridCol w="4578850"/>
              </a:tblGrid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Traditional (Waterfall)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DevOps SDLC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Linear / Sequential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Continuous / Circular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Release Frequency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Months or Years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Days or Hours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Feedback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 the very 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Constant and immediate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Separate phase after coding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Automated &amp; Integrated throughout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Collaboration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Siloed (Dev vs. Ops)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Unified Shared Responsibility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24"/>
          <p:cNvSpPr/>
          <p:nvPr/>
        </p:nvSpPr>
        <p:spPr>
          <a:xfrm>
            <a:off x="571500" y="3262312"/>
            <a:ext cx="2735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3306514" y="3262312"/>
            <a:ext cx="3735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7041653" y="3262312"/>
            <a:ext cx="4578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571500" y="3957637"/>
            <a:ext cx="2735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3306514" y="3957637"/>
            <a:ext cx="3735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7041653" y="3957637"/>
            <a:ext cx="4578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571500" y="4652962"/>
            <a:ext cx="2735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3306514" y="4652962"/>
            <a:ext cx="3735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7041653" y="4652962"/>
            <a:ext cx="4578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571500" y="5348287"/>
            <a:ext cx="2735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3306514" y="5348287"/>
            <a:ext cx="3735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7041653" y="5348287"/>
            <a:ext cx="4578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571500" y="6043612"/>
            <a:ext cx="2735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3306514" y="6043612"/>
            <a:ext cx="3735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7041653" y="6043612"/>
            <a:ext cx="4578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/>
          <p:nvPr/>
        </p:nvSpPr>
        <p:spPr>
          <a:xfrm>
            <a:off x="5619750" y="2436465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0" y="2874615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Advanced Testing Strategies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0" y="4208115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Quality from the Foundation Up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Testing Pyramid</a:t>
            </a:r>
            <a:endParaRPr/>
          </a:p>
        </p:txBody>
      </p:sp>
      <p:sp>
        <p:nvSpPr>
          <p:cNvPr id="250" name="Google Shape;250;p2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571500" y="2262187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Hierarchy of Automation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571500" y="29098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pyramid analogy suggests that a healthy testing suite should have a broad base of unit tests.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571500" y="37099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E2E (Top):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Smallest amount. High cost, slow, fragile.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571500" y="42052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Integration (Middle):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Moderate amount. Validates component interaction.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571500" y="500538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Unit (Base):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Largest amount. Fast, reliable, cheap.</a:t>
            </a:r>
            <a:endParaRPr/>
          </a:p>
        </p:txBody>
      </p:sp>
      <p:pic>
        <p:nvPicPr>
          <p:cNvPr descr="image.png" id="256" name="Google Shape;25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97744"/>
            <a:ext cx="3492549" cy="3367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97744"/>
            <a:ext cx="3492549" cy="33673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97744"/>
            <a:ext cx="3492549" cy="336738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Types of Automated Tests</a:t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952500" y="3343275"/>
            <a:ext cx="28670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 Tests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952500" y="373633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Testing individual functions or methods in isolation. The fastest feedback loop for developers.</a:t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4730799" y="3343275"/>
            <a:ext cx="28670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Integration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4730799" y="373633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Verifying that different modules or services work together correctly (e.g., API to Database).</a:t>
            </a:r>
            <a:endParaRPr/>
          </a:p>
        </p:txBody>
      </p:sp>
      <p:sp>
        <p:nvSpPr>
          <p:cNvPr id="271" name="Google Shape;271;p27"/>
          <p:cNvSpPr txBox="1"/>
          <p:nvPr/>
        </p:nvSpPr>
        <p:spPr>
          <a:xfrm>
            <a:off x="8509099" y="3343275"/>
            <a:ext cx="286707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End-to-End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8509099" y="3736330"/>
            <a:ext cx="27305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Simulating real user scenarios from start to finish across the entire system stack.</a:t>
            </a:r>
            <a:endParaRPr/>
          </a:p>
        </p:txBody>
      </p:sp>
      <p:pic>
        <p:nvPicPr>
          <p:cNvPr descr="image.png" id="273" name="Google Shape;27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6263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626369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626369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Clean Code Principles for Testing</a:t>
            </a:r>
            <a:endParaRPr/>
          </a:p>
        </p:txBody>
      </p:sp>
      <p:sp>
        <p:nvSpPr>
          <p:cNvPr id="282" name="Google Shape;282;p2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 txBox="1"/>
          <p:nvPr/>
        </p:nvSpPr>
        <p:spPr>
          <a:xfrm>
            <a:off x="571500" y="2757487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SRP</a:t>
            </a:r>
            <a:endParaRPr/>
          </a:p>
        </p:txBody>
      </p:sp>
      <p:sp>
        <p:nvSpPr>
          <p:cNvPr id="284" name="Google Shape;284;p28"/>
          <p:cNvSpPr txBox="1"/>
          <p:nvPr/>
        </p:nvSpPr>
        <p:spPr>
          <a:xfrm>
            <a:off x="571500" y="34051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Single Responsibility Principle: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module or class should have one, and only one, reason to change.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571500" y="42052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Testing becomes trivial because there are fewer dependencies to mock and scenarios to cover.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6381750" y="2605087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SoC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6381750" y="32527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Separation of Concerns: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Distinct sections should handle distinct functionalities.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6381750" y="40528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separating logic from UI or data access, we can test business rules without launching a heavy browser or database.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Cost of Bad Code</a:t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9"/>
          <p:cNvSpPr txBox="1"/>
          <p:nvPr/>
        </p:nvSpPr>
        <p:spPr>
          <a:xfrm>
            <a:off x="571500" y="2205037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Testing Nightmare</a:t>
            </a:r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571500" y="28527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Failing to adhere to SRP and SoC leads to "God Objects"—classes that do everything.</a:t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571500" y="3652837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Downside:</a:t>
            </a:r>
            <a:endParaRPr/>
          </a:p>
        </p:txBody>
      </p:sp>
      <p:pic>
        <p:nvPicPr>
          <p:cNvPr descr="image.png" id="300" name="Google Shape;30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847725" y="41481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952500" y="41481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Extremely fragile tests that break with any change.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847725" y="44529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952500" y="44529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Impossible to mock dependencies effectively.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847725" y="47577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952500" y="47577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Technical debt that slows down the entire CI/CD pipeline.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Why DevOps Matters: The Impact</a:t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571500" y="3214687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208x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571500" y="4357687"/>
            <a:ext cx="5238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More Frequent Deploys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6381750" y="2605087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High Performance Results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6381750" y="32527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According to DORA metrics, high-performing DevOps teams achieve significantly faster lead times and lower failure rates.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6381750" y="43576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They recover from incidents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2,604x faster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than low performers, proving that speed and stability can co-exist.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1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Takeaways for Success</a:t>
            </a: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1333500" y="2967037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 Everything: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From builds to infrastructure, manual steps are the enemy of scale.</a:t>
            </a:r>
            <a:endParaRPr/>
          </a:p>
        </p:txBody>
      </p:sp>
      <p:sp>
        <p:nvSpPr>
          <p:cNvPr id="327" name="Google Shape;327;p31"/>
          <p:cNvSpPr txBox="1"/>
          <p:nvPr/>
        </p:nvSpPr>
        <p:spPr>
          <a:xfrm>
            <a:off x="1333500" y="3462337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Shared Responsibility: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Dev and Ops are one team; everyone owns the software's uptime and quality.</a:t>
            </a: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1333500" y="3957637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Small Batches: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Deploy smaller changes more often to reduce risk and simplify troubleshooting.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1333500" y="4452937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Measure What Matters: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 monitoring to drive your planning—data should always beat intuition.</a:t>
            </a:r>
            <a:endParaRPr/>
          </a:p>
        </p:txBody>
      </p:sp>
      <p:pic>
        <p:nvPicPr>
          <p:cNvPr descr="image.png" id="330" name="Google Shape;33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9670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623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9576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4529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2"/>
          <p:cNvSpPr/>
          <p:nvPr/>
        </p:nvSpPr>
        <p:spPr>
          <a:xfrm>
            <a:off x="5619750" y="2436465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2"/>
          <p:cNvSpPr txBox="1"/>
          <p:nvPr/>
        </p:nvSpPr>
        <p:spPr>
          <a:xfrm>
            <a:off x="0" y="2874615"/>
            <a:ext cx="1219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Summary &amp; </a:t>
            </a:r>
            <a:r>
              <a:rPr b="1"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41" name="Google Shape;341;p32"/>
          <p:cNvSpPr txBox="1"/>
          <p:nvPr/>
        </p:nvSpPr>
        <p:spPr>
          <a:xfrm>
            <a:off x="0" y="4208115"/>
            <a:ext cx="762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